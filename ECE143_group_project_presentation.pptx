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03" r:id="rId4"/>
  </p:sldMasterIdLst>
  <p:notesMasterIdLst>
    <p:notesMasterId r:id="rId29"/>
  </p:notesMasterIdLst>
  <p:handoutMasterIdLst>
    <p:handoutMasterId r:id="rId30"/>
  </p:handoutMasterIdLst>
  <p:sldIdLst>
    <p:sldId id="410" r:id="rId5"/>
    <p:sldId id="383" r:id="rId6"/>
    <p:sldId id="418" r:id="rId7"/>
    <p:sldId id="415" r:id="rId8"/>
    <p:sldId id="426" r:id="rId9"/>
    <p:sldId id="428" r:id="rId10"/>
    <p:sldId id="416" r:id="rId11"/>
    <p:sldId id="427" r:id="rId12"/>
    <p:sldId id="419" r:id="rId13"/>
    <p:sldId id="411" r:id="rId14"/>
    <p:sldId id="414" r:id="rId15"/>
    <p:sldId id="412" r:id="rId16"/>
    <p:sldId id="429" r:id="rId17"/>
    <p:sldId id="423" r:id="rId18"/>
    <p:sldId id="434" r:id="rId19"/>
    <p:sldId id="436" r:id="rId20"/>
    <p:sldId id="437" r:id="rId21"/>
    <p:sldId id="433" r:id="rId22"/>
    <p:sldId id="425" r:id="rId23"/>
    <p:sldId id="424" r:id="rId24"/>
    <p:sldId id="431" r:id="rId25"/>
    <p:sldId id="435" r:id="rId26"/>
    <p:sldId id="432" r:id="rId27"/>
    <p:sldId id="398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085511-45BF-B133-4D00-FDCC18E869EE}" v="1" dt="2025-12-10T04:03:40.05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8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1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90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48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1F1F1F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8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1F1F1F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9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1F1F1F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86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26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F48C-40CF-494A-B964-EAC00F20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2907D-C53D-0465-FA9A-86C41245D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1C64C-040C-422B-58FB-A51CA3C55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D0B2B-7B4B-72F3-1A41-37C93CEE5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04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B438-5676-6AC5-3762-E88EE208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233C0-0DBB-456B-2452-75B1894B7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8FB88-C5BB-6D52-97F1-D536F30E3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solidFill>
                <a:srgbClr val="383A42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91E55-4B3B-1EB1-A313-19CF7C481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96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383A42"/>
              </a:solidFill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38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C90AA-7EC5-A531-4542-2115FFE0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E4023-CBCC-50E8-73B8-5F26CD104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FF1B1-0B32-07D2-E54E-E383116B7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CBFAD-F0F1-DB07-C630-FE6A9DB6A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85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8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36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t="268" b="268"/>
          <a:stretch/>
        </p:blipFill>
        <p:spPr>
          <a:xfrm>
            <a:off x="0" y="0"/>
            <a:ext cx="12192000" cy="68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>
            <a:spLocks noGrp="1"/>
          </p:cNvSpPr>
          <p:nvPr>
            <p:ph type="pic" idx="2"/>
          </p:nvPr>
        </p:nvSpPr>
        <p:spPr>
          <a:xfrm>
            <a:off x="9093125" y="381563"/>
            <a:ext cx="2679700" cy="509677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609601" y="1409700"/>
            <a:ext cx="10972799" cy="22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6933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09600" y="3710200"/>
            <a:ext cx="10972800" cy="9524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/>
          </a:bodyPr>
          <a:lstStyle>
            <a:lvl1pPr lv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160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615200" y="5905500"/>
            <a:ext cx="10972800" cy="3428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/>
          </a:bodyPr>
          <a:lstStyle>
            <a:lvl1pPr lv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8pPr>
            <a:lvl9pPr lvl="8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8874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753">
          <p15:clr>
            <a:srgbClr val="E46962"/>
          </p15:clr>
        </p15:guide>
        <p15:guide id="4" orient="horz" pos="2203">
          <p15:clr>
            <a:srgbClr val="E46962"/>
          </p15:clr>
        </p15:guide>
        <p15:guide id="5" orient="horz" pos="295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Numbered">
  <p:cSld name="Agenda Numbered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/>
          </p:cNvSpPr>
          <p:nvPr>
            <p:ph type="body" idx="1"/>
          </p:nvPr>
        </p:nvSpPr>
        <p:spPr>
          <a:xfrm>
            <a:off x="603251" y="1745752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3"/>
          <p:cNvSpPr>
            <a:spLocks noGrp="1"/>
          </p:cNvSpPr>
          <p:nvPr>
            <p:ph type="body" idx="2"/>
          </p:nvPr>
        </p:nvSpPr>
        <p:spPr>
          <a:xfrm>
            <a:off x="603251" y="2525419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Google Shape;20;p3"/>
          <p:cNvSpPr>
            <a:spLocks noGrp="1"/>
          </p:cNvSpPr>
          <p:nvPr>
            <p:ph type="body" idx="3"/>
          </p:nvPr>
        </p:nvSpPr>
        <p:spPr>
          <a:xfrm>
            <a:off x="603251" y="3305085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Google Shape;21;p3"/>
          <p:cNvSpPr>
            <a:spLocks noGrp="1"/>
          </p:cNvSpPr>
          <p:nvPr>
            <p:ph type="body" idx="4"/>
          </p:nvPr>
        </p:nvSpPr>
        <p:spPr>
          <a:xfrm>
            <a:off x="603251" y="4864419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3"/>
          <p:cNvSpPr>
            <a:spLocks noGrp="1"/>
          </p:cNvSpPr>
          <p:nvPr>
            <p:ph type="body" idx="5"/>
          </p:nvPr>
        </p:nvSpPr>
        <p:spPr>
          <a:xfrm>
            <a:off x="603251" y="4084752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3"/>
          <p:cNvSpPr>
            <a:spLocks noGrp="1"/>
          </p:cNvSpPr>
          <p:nvPr>
            <p:ph type="body" idx="6"/>
          </p:nvPr>
        </p:nvSpPr>
        <p:spPr>
          <a:xfrm>
            <a:off x="6288860" y="1745752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3"/>
          <p:cNvSpPr>
            <a:spLocks noGrp="1"/>
          </p:cNvSpPr>
          <p:nvPr>
            <p:ph type="body" idx="7"/>
          </p:nvPr>
        </p:nvSpPr>
        <p:spPr>
          <a:xfrm>
            <a:off x="6288860" y="2525419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25;p3"/>
          <p:cNvSpPr>
            <a:spLocks noGrp="1"/>
          </p:cNvSpPr>
          <p:nvPr>
            <p:ph type="body" idx="8"/>
          </p:nvPr>
        </p:nvSpPr>
        <p:spPr>
          <a:xfrm>
            <a:off x="6288860" y="3305085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6;p3"/>
          <p:cNvSpPr>
            <a:spLocks noGrp="1"/>
          </p:cNvSpPr>
          <p:nvPr>
            <p:ph type="body" idx="9"/>
          </p:nvPr>
        </p:nvSpPr>
        <p:spPr>
          <a:xfrm>
            <a:off x="6288860" y="4864419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3"/>
          <p:cNvSpPr>
            <a:spLocks noGrp="1"/>
          </p:cNvSpPr>
          <p:nvPr>
            <p:ph type="body" idx="13"/>
          </p:nvPr>
        </p:nvSpPr>
        <p:spPr>
          <a:xfrm>
            <a:off x="6288860" y="4084752"/>
            <a:ext cx="508000" cy="5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36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1219170" lvl="1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2pPr>
            <a:lvl3pPr marL="1828754" lvl="2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3pPr>
            <a:lvl4pPr marL="2438339" lvl="3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4pPr>
            <a:lvl5pPr marL="3047924" lvl="4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5pPr>
            <a:lvl6pPr marL="3657509" lvl="5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6pPr>
            <a:lvl7pPr marL="4267093" lvl="6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7pPr>
            <a:lvl8pPr marL="4876678" lvl="7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8pPr>
            <a:lvl9pPr marL="5486263" lvl="8" indent="-533387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36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4"/>
          </p:nvPr>
        </p:nvSpPr>
        <p:spPr>
          <a:xfrm>
            <a:off x="1268267" y="1736167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5"/>
          </p:nvPr>
        </p:nvSpPr>
        <p:spPr>
          <a:xfrm>
            <a:off x="1268267" y="2515833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6"/>
          </p:nvPr>
        </p:nvSpPr>
        <p:spPr>
          <a:xfrm>
            <a:off x="1268267" y="3295500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7"/>
          </p:nvPr>
        </p:nvSpPr>
        <p:spPr>
          <a:xfrm>
            <a:off x="1268267" y="4075167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8"/>
          </p:nvPr>
        </p:nvSpPr>
        <p:spPr>
          <a:xfrm>
            <a:off x="1268267" y="4854833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9"/>
          </p:nvPr>
        </p:nvSpPr>
        <p:spPr>
          <a:xfrm>
            <a:off x="6953900" y="1736167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20"/>
          </p:nvPr>
        </p:nvSpPr>
        <p:spPr>
          <a:xfrm>
            <a:off x="6953900" y="2515833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21"/>
          </p:nvPr>
        </p:nvSpPr>
        <p:spPr>
          <a:xfrm>
            <a:off x="6953900" y="3295500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22"/>
          </p:nvPr>
        </p:nvSpPr>
        <p:spPr>
          <a:xfrm>
            <a:off x="6953900" y="4075167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23"/>
          </p:nvPr>
        </p:nvSpPr>
        <p:spPr>
          <a:xfrm>
            <a:off x="6953900" y="4854833"/>
            <a:ext cx="4634800" cy="52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3155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9">
          <p15:clr>
            <a:srgbClr val="E46962"/>
          </p15:clr>
        </p15:guide>
        <p15:guide id="2" pos="599">
          <p15:clr>
            <a:srgbClr val="E46962"/>
          </p15:clr>
        </p15:guide>
        <p15:guide id="3" pos="2789">
          <p15:clr>
            <a:srgbClr val="E46962"/>
          </p15:clr>
        </p15:guide>
        <p15:guide id="4" pos="3285">
          <p15:clr>
            <a:srgbClr val="E46962"/>
          </p15:clr>
        </p15:guide>
        <p15:guide id="5" orient="horz" pos="2543">
          <p15:clr>
            <a:srgbClr val="E46962"/>
          </p15:clr>
        </p15:guide>
        <p15:guide id="6" orient="horz" pos="2294">
          <p15:clr>
            <a:srgbClr val="E46962"/>
          </p15:clr>
        </p15:guide>
        <p15:guide id="7" orient="horz" pos="1930">
          <p15:clr>
            <a:srgbClr val="E46962"/>
          </p15:clr>
        </p15:guide>
        <p15:guide id="8" orient="horz" pos="1557">
          <p15:clr>
            <a:srgbClr val="E46962"/>
          </p15:clr>
        </p15:guide>
        <p15:guide id="9" orient="horz" pos="119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RIght">
  <p:cSld name="Photo RIgh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609601" y="536449"/>
            <a:ext cx="4876799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609433" y="1733567"/>
            <a:ext cx="4876800" cy="41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2pPr>
            <a:lvl3pPr marL="1828754" lvl="2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3pPr>
            <a:lvl4pPr marL="2438339" lvl="3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4pPr>
            <a:lvl5pPr marL="3047924" lvl="4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5pPr>
            <a:lvl6pPr marL="3657509" lvl="5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6pPr>
            <a:lvl7pPr marL="4267093" lvl="6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7pPr>
            <a:lvl8pPr marL="4876678" lvl="7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8pPr>
            <a:lvl9pPr marL="5486263" lvl="8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255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609600" y="1733567"/>
            <a:ext cx="10972800" cy="41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2pPr>
            <a:lvl3pPr marL="1828754" lvl="2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3pPr>
            <a:lvl4pPr marL="2438339" lvl="3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4pPr>
            <a:lvl5pPr marL="3047924" lvl="4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5pPr>
            <a:lvl6pPr marL="3657509" lvl="5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6pPr>
            <a:lvl7pPr marL="4267093" lvl="6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7pPr>
            <a:lvl8pPr marL="4876678" lvl="7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8pPr>
            <a:lvl9pPr marL="5486263" lvl="8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989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 type="tx">
  <p:cSld name="Statement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t="90544"/>
          <a:stretch/>
        </p:blipFill>
        <p:spPr>
          <a:xfrm>
            <a:off x="2467" y="6210658"/>
            <a:ext cx="12191997" cy="6487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Google Shape;52;p6"/>
          <p:cNvSpPr txBox="1">
            <a:spLocks noGrp="1"/>
          </p:cNvSpPr>
          <p:nvPr>
            <p:ph type="subTitle" idx="1"/>
          </p:nvPr>
        </p:nvSpPr>
        <p:spPr>
          <a:xfrm>
            <a:off x="609600" y="533400"/>
            <a:ext cx="10972800" cy="537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eko"/>
              <a:buNone/>
              <a:defRPr sz="6400" b="1">
                <a:solidFill>
                  <a:schemeClr val="lt2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8pPr>
            <a:lvl9pPr lvl="8" algn="ctr">
              <a:spcBef>
                <a:spcPts val="16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92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54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t="90792"/>
          <a:stretch/>
        </p:blipFill>
        <p:spPr>
          <a:xfrm>
            <a:off x="2467" y="6229042"/>
            <a:ext cx="12191997" cy="631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3">
            <a:alphaModFix/>
          </a:blip>
          <a:srcRect b="79455"/>
          <a:stretch/>
        </p:blipFill>
        <p:spPr>
          <a:xfrm>
            <a:off x="2468" y="1"/>
            <a:ext cx="1218706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>
            <a:spLocks noGrp="1"/>
          </p:cNvSpPr>
          <p:nvPr>
            <p:ph type="pic" idx="3"/>
          </p:nvPr>
        </p:nvSpPr>
        <p:spPr>
          <a:xfrm>
            <a:off x="9093125" y="381563"/>
            <a:ext cx="2679700" cy="509677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09600" y="3018425"/>
            <a:ext cx="109728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6933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1"/>
          </p:nvPr>
        </p:nvSpPr>
        <p:spPr>
          <a:xfrm>
            <a:off x="600600" y="550533"/>
            <a:ext cx="7201200" cy="3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467">
                <a:solidFill>
                  <a:schemeClr val="l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ubTitle" idx="4"/>
          </p:nvPr>
        </p:nvSpPr>
        <p:spPr>
          <a:xfrm>
            <a:off x="600600" y="5360467"/>
            <a:ext cx="10972800" cy="5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4517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">
          <p15:clr>
            <a:srgbClr val="E46962"/>
          </p15:clr>
        </p15:guide>
        <p15:guide id="2" pos="3686">
          <p15:clr>
            <a:srgbClr val="E46962"/>
          </p15:clr>
        </p15:guide>
        <p15:guide id="3" orient="horz" pos="2533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imple">
  <p:cSld name="Agenda Simp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609433" y="1733567"/>
            <a:ext cx="10972800" cy="41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2pPr>
            <a:lvl3pPr marL="1828754" lvl="2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3pPr>
            <a:lvl4pPr marL="2438339" lvl="3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4pPr>
            <a:lvl5pPr marL="3047924" lvl="4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5pPr>
            <a:lvl6pPr marL="3657509" lvl="5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6pPr>
            <a:lvl7pPr marL="4267093" lvl="6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7pPr>
            <a:lvl8pPr marL="4876678" lvl="7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8pPr>
            <a:lvl9pPr marL="5486263" lvl="8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18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Photo Alt">
  <p:cSld name="Title &amp; Photo Al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6669287" y="1084730"/>
            <a:ext cx="4913112" cy="234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6669300" y="3522133"/>
            <a:ext cx="4913200" cy="238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600"/>
              </a:spcBef>
              <a:spcAft>
                <a:spcPts val="0"/>
              </a:spcAft>
              <a:buSzPts val="1700"/>
              <a:buFont typeface="Source Sans 3 Medium"/>
              <a:buNone/>
              <a:defRPr sz="2267">
                <a:latin typeface="Source Sans 3 Medium"/>
                <a:ea typeface="Source Sans 3 Medium"/>
                <a:cs typeface="Source Sans 3 Medium"/>
                <a:sym typeface="Source Sans 3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8pPr>
            <a:lvl9pPr lvl="8">
              <a:spcBef>
                <a:spcPts val="16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28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1"/>
          <p:cNvPicPr preferRelativeResize="0"/>
          <p:nvPr/>
        </p:nvPicPr>
        <p:blipFill rotWithShape="1">
          <a:blip r:embed="rId2">
            <a:alphaModFix/>
          </a:blip>
          <a:srcRect t="90544"/>
          <a:stretch/>
        </p:blipFill>
        <p:spPr>
          <a:xfrm>
            <a:off x="2467" y="6210658"/>
            <a:ext cx="12191997" cy="6487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609601" y="2029885"/>
            <a:ext cx="10972799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 i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467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">
  <p:cSld name="Title &amp;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609600" y="1733551"/>
            <a:ext cx="10972800" cy="41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1219170" lvl="1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3657509" lvl="5" indent="-44025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4267093" lvl="6" indent="-44025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4876678" lvl="7" indent="-44025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5486263" lvl="8" indent="-44025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2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2 Columns">
  <p:cSld name="Title &amp; 2 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609600" y="1733567"/>
            <a:ext cx="5267200" cy="41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2pPr>
            <a:lvl3pPr marL="1828754" lvl="2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3pPr>
            <a:lvl4pPr marL="2438339" lvl="3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4pPr>
            <a:lvl5pPr marL="3047924" lvl="4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5pPr>
            <a:lvl6pPr marL="3657509" lvl="5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6pPr>
            <a:lvl7pPr marL="4267093" lvl="6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7pPr>
            <a:lvl8pPr marL="4876678" lvl="7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8pPr>
            <a:lvl9pPr marL="5486263" lvl="8" indent="-440256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2"/>
          </p:nvPr>
        </p:nvSpPr>
        <p:spPr>
          <a:xfrm>
            <a:off x="6315200" y="1733567"/>
            <a:ext cx="5267200" cy="41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1pPr>
            <a:lvl2pPr marL="1219170" lvl="1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2pPr>
            <a:lvl3pPr marL="1828754" lvl="2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3pPr>
            <a:lvl4pPr marL="2438339" lvl="3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4pPr>
            <a:lvl5pPr marL="3047924" lvl="4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5pPr>
            <a:lvl6pPr marL="3657509" lvl="5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6pPr>
            <a:lvl7pPr marL="4267093" lvl="6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7pPr>
            <a:lvl8pPr marL="4876678" lvl="7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8pPr>
            <a:lvl9pPr marL="5486263" lvl="8" indent="-440256" rtl="0">
              <a:spcBef>
                <a:spcPts val="1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4657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94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Fact">
  <p:cSld name="Big Fa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609600" y="1188133"/>
            <a:ext cx="10972800" cy="317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8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609600" y="4131100"/>
            <a:ext cx="10972800" cy="6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>
              <a:spcBef>
                <a:spcPts val="1600"/>
              </a:spcBef>
              <a:spcAft>
                <a:spcPts val="0"/>
              </a:spcAft>
              <a:buSzPts val="2050"/>
              <a:buFont typeface="Source Sans 3 SemiBold"/>
              <a:buNone/>
              <a:defRPr sz="2733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7140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1215012" y="4745061"/>
            <a:ext cx="10100027" cy="3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None/>
              <a:defRPr sz="1533"/>
            </a:lvl1pPr>
            <a:lvl2pPr marL="1219170" lvl="1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2pPr>
            <a:lvl3pPr marL="1828754" lvl="2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3pPr>
            <a:lvl4pPr marL="2438339" lvl="3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4pPr>
            <a:lvl5pPr marL="3047924" lvl="4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5pPr>
            <a:lvl6pPr marL="3657509" lvl="5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6pPr>
            <a:lvl7pPr marL="4267093" lvl="6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7pPr>
            <a:lvl8pPr marL="4876678" lvl="7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8pPr>
            <a:lvl9pPr marL="5486263" lvl="8" indent="-40215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50"/>
              <a:buChar char="•"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2"/>
          </p:nvPr>
        </p:nvSpPr>
        <p:spPr>
          <a:xfrm>
            <a:off x="876962" y="1409700"/>
            <a:ext cx="10438077" cy="2978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None/>
              <a:defRPr sz="4267" b="1" i="0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1pPr>
            <a:lvl2pPr marL="1219170" lvl="1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Char char="•"/>
              <a:defRPr sz="4267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marL="1828754" lvl="2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Char char="•"/>
              <a:defRPr sz="4267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marL="2438339" lvl="3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Char char="•"/>
              <a:defRPr sz="4267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marL="3047924" lvl="4" indent="-30479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None/>
              <a:defRPr sz="4267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marL="3657509" lvl="5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4267" b="1">
                <a:latin typeface="Teko"/>
                <a:ea typeface="Teko"/>
                <a:cs typeface="Teko"/>
                <a:sym typeface="Teko"/>
              </a:defRPr>
            </a:lvl6pPr>
            <a:lvl7pPr marL="4267093" lvl="6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4267" b="1">
                <a:latin typeface="Teko"/>
                <a:ea typeface="Teko"/>
                <a:cs typeface="Teko"/>
                <a:sym typeface="Teko"/>
              </a:defRPr>
            </a:lvl7pPr>
            <a:lvl8pPr marL="4876678" lvl="7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4267" b="1">
                <a:latin typeface="Teko"/>
                <a:ea typeface="Teko"/>
                <a:cs typeface="Teko"/>
                <a:sym typeface="Teko"/>
              </a:defRPr>
            </a:lvl8pPr>
            <a:lvl9pPr marL="5486263" lvl="8" indent="-575719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4267" b="1">
                <a:latin typeface="Teko"/>
                <a:ea typeface="Teko"/>
                <a:cs typeface="Teko"/>
                <a:sym typeface="Teko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26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7880349" y="3530000"/>
            <a:ext cx="3702051" cy="2693032"/>
          </a:xfrm>
          <a:prstGeom prst="roundRect">
            <a:avLst>
              <a:gd name="adj" fmla="val 4810"/>
            </a:avLst>
          </a:prstGeom>
          <a:noFill/>
          <a:ln>
            <a:noFill/>
          </a:ln>
        </p:spPr>
      </p:sp>
      <p:sp>
        <p:nvSpPr>
          <p:cNvPr id="97" name="Google Shape;97;p17"/>
          <p:cNvSpPr>
            <a:spLocks noGrp="1"/>
          </p:cNvSpPr>
          <p:nvPr>
            <p:ph type="pic" idx="3"/>
          </p:nvPr>
        </p:nvSpPr>
        <p:spPr>
          <a:xfrm>
            <a:off x="7880349" y="603061"/>
            <a:ext cx="3702051" cy="2693032"/>
          </a:xfrm>
          <a:prstGeom prst="roundRect">
            <a:avLst>
              <a:gd name="adj" fmla="val 4810"/>
            </a:avLst>
          </a:prstGeom>
          <a:noFill/>
          <a:ln>
            <a:noFill/>
          </a:ln>
        </p:spPr>
      </p:sp>
      <p:sp>
        <p:nvSpPr>
          <p:cNvPr id="98" name="Google Shape;98;p17"/>
          <p:cNvSpPr>
            <a:spLocks noGrp="1"/>
          </p:cNvSpPr>
          <p:nvPr>
            <p:ph type="pic" idx="4"/>
          </p:nvPr>
        </p:nvSpPr>
        <p:spPr>
          <a:xfrm>
            <a:off x="609600" y="603504"/>
            <a:ext cx="7054800" cy="5619600"/>
          </a:xfrm>
          <a:prstGeom prst="roundRect">
            <a:avLst>
              <a:gd name="adj" fmla="val 2254"/>
            </a:avLst>
          </a:prstGeom>
          <a:noFill/>
          <a:ln>
            <a:noFill/>
          </a:ln>
        </p:spPr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31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88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me Only">
  <p:cSld name="Frame 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1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123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703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6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206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67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" y="1"/>
            <a:ext cx="12198351" cy="686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6">
            <a:alphaModFix/>
          </a:blip>
          <a:srcRect t="709" b="709"/>
          <a:stretch/>
        </p:blipFill>
        <p:spPr>
          <a:xfrm>
            <a:off x="10051778" y="320229"/>
            <a:ext cx="1837071" cy="3444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43840" y="6472732"/>
            <a:ext cx="365600" cy="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609600" y="1733551"/>
            <a:ext cx="10972800" cy="41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536449"/>
            <a:ext cx="85005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eko"/>
              <a:buNone/>
              <a:defRPr sz="3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70135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304" r:id="rId1"/>
    <p:sldLayoutId id="2147484305" r:id="rId2"/>
    <p:sldLayoutId id="2147484306" r:id="rId3"/>
    <p:sldLayoutId id="2147484307" r:id="rId4"/>
    <p:sldLayoutId id="2147484308" r:id="rId5"/>
    <p:sldLayoutId id="2147484309" r:id="rId6"/>
    <p:sldLayoutId id="2147484310" r:id="rId7"/>
    <p:sldLayoutId id="2147484311" r:id="rId8"/>
    <p:sldLayoutId id="2147484312" r:id="rId9"/>
    <p:sldLayoutId id="2147484313" r:id="rId10"/>
    <p:sldLayoutId id="2147484314" r:id="rId11"/>
    <p:sldLayoutId id="2147484315" r:id="rId12"/>
    <p:sldLayoutId id="2147484316" r:id="rId13"/>
    <p:sldLayoutId id="2147484317" r:id="rId14"/>
    <p:sldLayoutId id="2147484318" r:id="rId15"/>
    <p:sldLayoutId id="2147484319" r:id="rId16"/>
    <p:sldLayoutId id="2147484320" r:id="rId17"/>
    <p:sldLayoutId id="2147484321" r:id="rId18"/>
    <p:sldLayoutId id="2147484322" r:id="rId19"/>
    <p:sldLayoutId id="2147484323" r:id="rId20"/>
    <p:sldLayoutId id="2147484324" r:id="rId21"/>
    <p:sldLayoutId id="2147484325" r:id="rId22"/>
    <p:sldLayoutId id="2147484275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819">
          <p15:clr>
            <a:srgbClr val="F26B43"/>
          </p15:clr>
        </p15:guide>
        <p15:guide id="4" orient="horz" pos="2790">
          <p15:clr>
            <a:srgbClr val="F26B43"/>
          </p15:clr>
        </p15:guide>
        <p15:guide id="5" orient="horz" pos="252">
          <p15:clr>
            <a:srgbClr val="F26B43"/>
          </p15:clr>
        </p15:guide>
        <p15:guide id="6" orient="horz" pos="666">
          <p15:clr>
            <a:srgbClr val="F26B43"/>
          </p15:clr>
        </p15:guide>
        <p15:guide id="7" pos="288">
          <p15:clr>
            <a:srgbClr val="F26B43"/>
          </p15:clr>
        </p15:guide>
        <p15:guide id="8" pos="5472">
          <p15:clr>
            <a:srgbClr val="F26B43"/>
          </p15:clr>
        </p15:guide>
        <p15:guide id="9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hyperlink" Target="https://collegescorecard.ed.gov/data/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715860"/>
            <a:ext cx="10972799" cy="1221227"/>
          </a:xfrm>
        </p:spPr>
        <p:txBody>
          <a:bodyPr wrap="square" anchor="b">
            <a:normAutofit fontScale="90000"/>
          </a:bodyPr>
          <a:lstStyle/>
          <a:p>
            <a:br>
              <a:rPr lang="en-US" sz="4300"/>
            </a:br>
            <a:r>
              <a:rPr lang="en-US" sz="4300"/>
              <a:t> </a:t>
            </a:r>
            <a:br>
              <a:rPr lang="en-US" sz="4300"/>
            </a:br>
            <a:r>
              <a:rPr lang="en-US" sz="4300" b="0">
                <a:latin typeface="Calibri"/>
              </a:rPr>
              <a:t>Predicting Student Success and Financial</a:t>
            </a:r>
            <a:endParaRPr lang="en-US" sz="4300">
              <a:latin typeface="Calibri"/>
            </a:endParaRPr>
          </a:p>
          <a:p>
            <a:r>
              <a:rPr lang="en-US" sz="4300" b="0">
                <a:latin typeface="Calibri"/>
              </a:rPr>
              <a:t>Outcomes in Higher Education</a:t>
            </a:r>
            <a:endParaRPr lang="en-US" sz="4300">
              <a:latin typeface="Calibri"/>
            </a:endParaRP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14608A2C-4A96-2BAE-7217-8BB72EB3F49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11414" y="6000007"/>
            <a:ext cx="10972800" cy="342800"/>
          </a:xfrm>
        </p:spPr>
        <p:txBody>
          <a:bodyPr>
            <a:noAutofit/>
          </a:bodyPr>
          <a:lstStyle/>
          <a:p>
            <a:r>
              <a:rPr lang="en-US" sz="1800">
                <a:latin typeface="Calibri"/>
                <a:ea typeface="Calibri"/>
                <a:cs typeface="Calibri"/>
              </a:rPr>
              <a:t>ECE143 Programming for Data Analysis |  December 5, 2025</a:t>
            </a:r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05C89-AEB0-012F-BB46-36EFC6407A35}"/>
              </a:ext>
            </a:extLst>
          </p:cNvPr>
          <p:cNvSpPr txBox="1"/>
          <p:nvPr/>
        </p:nvSpPr>
        <p:spPr>
          <a:xfrm>
            <a:off x="612321" y="3157228"/>
            <a:ext cx="11321142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FEFFFF"/>
                </a:solidFill>
                <a:latin typeface="Calibri"/>
                <a:ea typeface="Calibri"/>
                <a:cs typeface="Calibri"/>
              </a:rPr>
              <a:t>Yiting Wang  | </a:t>
            </a:r>
            <a:r>
              <a:rPr lang="en-US" sz="2200" dirty="0" err="1">
                <a:solidFill>
                  <a:srgbClr val="FEFFFF"/>
                </a:solidFill>
                <a:latin typeface="Calibri"/>
                <a:ea typeface="Calibri"/>
                <a:cs typeface="Calibri"/>
              </a:rPr>
              <a:t>Chutian</a:t>
            </a:r>
            <a:r>
              <a:rPr lang="en-US" sz="2200" dirty="0">
                <a:solidFill>
                  <a:srgbClr val="FEFFFF"/>
                </a:solidFill>
                <a:latin typeface="Calibri"/>
                <a:ea typeface="Calibri"/>
                <a:cs typeface="Calibri"/>
              </a:rPr>
              <a:t> Gong | Aneesh Ojha |  Kuntal | Zheng </a:t>
            </a:r>
            <a:endParaRPr lang="en-US" sz="2000" dirty="0">
              <a:solidFill>
                <a:srgbClr val="FFFFFF"/>
              </a:solidFill>
              <a:ea typeface="Calibri"/>
            </a:endParaRPr>
          </a:p>
          <a:p>
            <a:endParaRPr lang="en-US" sz="2000">
              <a:solidFill>
                <a:srgbClr val="FEFFFF"/>
              </a:solidFill>
              <a:latin typeface="Calibri"/>
              <a:ea typeface="Calibri"/>
              <a:cs typeface="Calibri"/>
            </a:endParaRPr>
          </a:p>
          <a:p>
            <a:br>
              <a:rPr lang="en-US" sz="2000" dirty="0">
                <a:latin typeface="Calibri"/>
                <a:ea typeface="Calibri"/>
                <a:cs typeface="Calibri"/>
              </a:rPr>
            </a:br>
            <a:endParaRPr lang="en-US" sz="2000">
              <a:solidFill>
                <a:srgbClr val="FE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DC6D6791-F109-54AF-B212-7C212D4C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962" y="429305"/>
            <a:ext cx="2709183" cy="49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24" y="755590"/>
            <a:ext cx="8500533" cy="876300"/>
          </a:xfrm>
        </p:spPr>
        <p:txBody>
          <a:bodyPr wrap="square" anchor="t">
            <a:normAutofit/>
          </a:bodyPr>
          <a:lstStyle/>
          <a:p>
            <a:r>
              <a:rPr lang="en-US" sz="3600"/>
              <a:t>                                  </a:t>
            </a:r>
            <a:r>
              <a:rPr lang="en-US" sz="4800">
                <a:latin typeface="Calibri"/>
              </a:rPr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42" y="1493254"/>
            <a:ext cx="10568680" cy="4209119"/>
          </a:xfrm>
        </p:spPr>
        <p:txBody>
          <a:bodyPr spcFirstLastPara="1" vert="horz" wrap="square" lIns="0" tIns="457200" rIns="0" bIns="0" rtlCol="0" anchor="t" anchorCtr="0">
            <a:noAutofit/>
          </a:bodyPr>
          <a:lstStyle/>
          <a:p>
            <a:pPr marL="285750" indent="-285750">
              <a:buFont typeface="Wingdings"/>
              <a:buChar char="q"/>
            </a:pPr>
            <a:r>
              <a:rPr lang="en-US" sz="2400">
                <a:latin typeface="Calibri"/>
              </a:rPr>
              <a:t> Introduction: Motivation, Dataset</a:t>
            </a:r>
            <a:endParaRPr lang="en-US" sz="2400"/>
          </a:p>
          <a:p>
            <a:pPr marL="285750" indent="-285750">
              <a:buFont typeface="Wingdings"/>
              <a:buChar char="q"/>
            </a:pPr>
            <a:r>
              <a:rPr lang="en-US" sz="2400">
                <a:latin typeface="Calibri"/>
              </a:rPr>
              <a:t> Methodology: Pre-Processing, Modeling Approach</a:t>
            </a:r>
          </a:p>
          <a:p>
            <a:pPr marL="285750" indent="-285750">
              <a:buFont typeface="Wingdings"/>
              <a:buChar char="q"/>
            </a:pPr>
            <a:r>
              <a:rPr lang="en-US" sz="2400">
                <a:latin typeface="Calibri"/>
              </a:rPr>
              <a:t> Results</a:t>
            </a:r>
          </a:p>
          <a:p>
            <a:pPr marL="285750" indent="-285750">
              <a:buFont typeface="Wingdings"/>
              <a:buChar char="q"/>
            </a:pPr>
            <a:r>
              <a:rPr lang="en-US" sz="2400">
                <a:latin typeface="Calibri"/>
              </a:rPr>
              <a:t> Visualizations</a:t>
            </a:r>
          </a:p>
          <a:p>
            <a:pPr marL="285750" indent="-285750">
              <a:buFont typeface="Wingdings"/>
              <a:buChar char="q"/>
            </a:pPr>
            <a:r>
              <a:rPr lang="en-US" sz="2400">
                <a:latin typeface="Calibri"/>
              </a:rPr>
              <a:t> Insights</a:t>
            </a:r>
          </a:p>
          <a:p>
            <a:pPr marL="285750" indent="-285750">
              <a:buFont typeface="Wingdings"/>
              <a:buChar char="q"/>
            </a:pPr>
            <a:r>
              <a:rPr lang="en-US" sz="2400">
                <a:latin typeface="Calibri"/>
              </a:rPr>
              <a:t> References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EB6E85-A98E-E04D-5F2E-EE3559D7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4" y="2603275"/>
            <a:ext cx="9339943" cy="1256993"/>
          </a:xfrm>
        </p:spPr>
        <p:txBody>
          <a:bodyPr wrap="square" anchor="b">
            <a:normAutofit/>
          </a:bodyPr>
          <a:lstStyle/>
          <a:p>
            <a:r>
              <a:rPr lang="en-GB" sz="8000">
                <a:solidFill>
                  <a:schemeClr val="bg1"/>
                </a:solidFill>
                <a:latin typeface="Calibri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9242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43E1-D5AC-35B5-F1D5-1F2DC4328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5" y="313424"/>
            <a:ext cx="8500533" cy="876300"/>
          </a:xfrm>
        </p:spPr>
        <p:txBody>
          <a:bodyPr wrap="square" anchor="ctr">
            <a:normAutofit/>
          </a:bodyPr>
          <a:lstStyle/>
          <a:p>
            <a:r>
              <a:rPr lang="en-US" sz="4000">
                <a:latin typeface="Calibri"/>
              </a:rPr>
              <a:t>                                </a:t>
            </a:r>
            <a:r>
              <a:rPr lang="en-US" sz="4800">
                <a:latin typeface="Calibri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2192-780E-0E85-1DF9-CB66DA465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848" y="1061540"/>
            <a:ext cx="11003775" cy="1601022"/>
          </a:xfrm>
        </p:spPr>
        <p:txBody>
          <a:bodyPr spcFirstLastPara="1" vert="horz" wrap="square" lIns="0" tIns="228600" rIns="0" bIns="0" rtlCol="0" anchor="t" anchorCtr="0">
            <a:noAutofit/>
          </a:bodyPr>
          <a:lstStyle/>
          <a:p>
            <a:pPr marL="342900" indent="-34290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The Investment Gap:</a:t>
            </a:r>
            <a:endParaRPr lang="en-US" sz="2400" dirty="0"/>
          </a:p>
          <a:p>
            <a:pPr marL="1278255" lvl="1" indent="-34290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Higher education is one of the largest lifetime financial investments, yet students often lack data-driven insights on ROI.</a:t>
            </a:r>
          </a:p>
          <a:p>
            <a:pPr marL="285750" indent="-28575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Key Questions:</a:t>
            </a:r>
          </a:p>
          <a:p>
            <a:pPr marL="1278255" lvl="1" indent="-34290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Which institutional factors actually predict completion rates?</a:t>
            </a:r>
          </a:p>
          <a:p>
            <a:pPr marL="1278255" lvl="1" indent="-34290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How do specific university characteristics affect post-grad earnings and debt?</a:t>
            </a:r>
          </a:p>
          <a:p>
            <a:pPr marL="1278255" lvl="1" indent="-342900">
              <a:lnSpc>
                <a:spcPct val="90000"/>
              </a:lnSpc>
              <a:buFont typeface="Wingdings"/>
              <a:buChar char="q"/>
            </a:pPr>
            <a:endParaRPr lang="en-US" sz="2400">
              <a:latin typeface="Calibri"/>
            </a:endParaRPr>
          </a:p>
          <a:p>
            <a:pPr marL="285750" indent="-28575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Our Goal:</a:t>
            </a:r>
          </a:p>
          <a:p>
            <a:pPr marL="1278255" lvl="1" indent="-342900">
              <a:lnSpc>
                <a:spcPct val="90000"/>
              </a:lnSpc>
              <a:buFont typeface="Wingdings"/>
              <a:buChar char="q"/>
            </a:pPr>
            <a:r>
              <a:rPr lang="en-US" sz="2400" dirty="0">
                <a:latin typeface="Calibri"/>
              </a:rPr>
              <a:t>To analyze the U.S. Dept. of Education College Scorecard dataset to uncover the hidden drivers of student success.</a:t>
            </a:r>
          </a:p>
          <a:p>
            <a:pPr marL="283210" indent="-283210">
              <a:lnSpc>
                <a:spcPct val="90000"/>
              </a:lnSpc>
              <a:buFont typeface="Wingdings"/>
              <a:buChar char="q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55078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0764-4964-D6A9-92A4-7DA38126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24937"/>
            <a:ext cx="9541313" cy="876300"/>
          </a:xfrm>
        </p:spPr>
        <p:txBody>
          <a:bodyPr>
            <a:normAutofit/>
          </a:bodyPr>
          <a:lstStyle/>
          <a:p>
            <a:r>
              <a:rPr lang="en-US" sz="4000">
                <a:latin typeface="Calibri"/>
              </a:rPr>
              <a:t>             </a:t>
            </a:r>
            <a:r>
              <a:rPr lang="en-US" sz="4800">
                <a:latin typeface="Calibri"/>
              </a:rPr>
              <a:t>Dataset: College Scorecard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28116-4102-EF2B-D52B-F7A269529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433" y="1183276"/>
            <a:ext cx="10972800" cy="4481756"/>
          </a:xfr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Wingdings"/>
              <a:buChar char="q"/>
            </a:pPr>
            <a:r>
              <a:rPr lang="en-US" sz="2200" b="1">
                <a:latin typeface="Calibri"/>
              </a:rPr>
              <a:t>Source:</a:t>
            </a:r>
            <a:r>
              <a:rPr lang="en-US" sz="2200">
                <a:latin typeface="Calibri"/>
              </a:rPr>
              <a:t> U.S. Department of Education</a:t>
            </a:r>
          </a:p>
          <a:p>
            <a:pPr marL="285750" indent="-285750">
              <a:buFont typeface="Wingdings"/>
              <a:buChar char="q"/>
            </a:pPr>
            <a:r>
              <a:rPr lang="en-US" sz="2200" b="1">
                <a:latin typeface="Calibri"/>
              </a:rPr>
              <a:t>Coverage:</a:t>
            </a:r>
            <a:r>
              <a:rPr lang="en-US" sz="2200">
                <a:latin typeface="Calibri"/>
              </a:rPr>
              <a:t> Over 6,000 U.S. postsecondary institutions, spanning 1996–present</a:t>
            </a:r>
          </a:p>
          <a:p>
            <a:pPr marL="285750" indent="-285750">
              <a:buFont typeface="Wingdings"/>
              <a:buChar char="q"/>
            </a:pPr>
            <a:r>
              <a:rPr lang="en-US" sz="2200" b="1">
                <a:latin typeface="Calibri"/>
              </a:rPr>
              <a:t>Purpose:</a:t>
            </a:r>
            <a:r>
              <a:rPr lang="en-US" sz="2200">
                <a:latin typeface="Calibri"/>
              </a:rPr>
              <a:t> Improve transparency around college costs, outcomes, &amp; institutional performance.</a:t>
            </a:r>
            <a:endParaRPr lang="en-US">
              <a:latin typeface="Calibri"/>
            </a:endParaRPr>
          </a:p>
          <a:p>
            <a:pPr marL="285750" indent="-285750">
              <a:buFont typeface="Wingdings"/>
              <a:buChar char="q"/>
            </a:pPr>
            <a:r>
              <a:rPr lang="en-US" sz="2200" b="1">
                <a:latin typeface="Calibri"/>
              </a:rPr>
              <a:t>Key Features</a:t>
            </a:r>
            <a:r>
              <a:rPr lang="en-US" sz="2200">
                <a:latin typeface="Calibri"/>
              </a:rPr>
              <a:t>: </a:t>
            </a:r>
            <a:br>
              <a:rPr lang="en-US" sz="2200">
                <a:latin typeface="Calibri"/>
              </a:rPr>
            </a:br>
            <a:r>
              <a:rPr lang="en-US" sz="2000">
                <a:latin typeface="Calibri"/>
              </a:rPr>
              <a:t>Institutional characteristics (location, size, type, admission rates)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Cost and financial aid information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Student demographics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Completion and retention rates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Post-graduation outcomes (median earnings, employment rates)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Student debt levels</a:t>
            </a:r>
          </a:p>
          <a:p>
            <a:pPr marL="285750" indent="-285750">
              <a:buFont typeface="Wingdings"/>
              <a:buChar char="q"/>
            </a:pPr>
            <a:r>
              <a:rPr lang="en-US" sz="2200">
                <a:latin typeface="Calibri"/>
              </a:rPr>
              <a:t>Widely used for education analytics, economic mobility research, and data-driven college comparison tools.</a:t>
            </a:r>
            <a:endParaRPr lang="en-US">
              <a:latin typeface="Calibri"/>
            </a:endParaRPr>
          </a:p>
          <a:p>
            <a:pPr marL="285750" indent="-285750">
              <a:buFont typeface="Wingdings"/>
              <a:buChar char="q"/>
            </a:pPr>
            <a:endParaRPr lang="en-US" sz="2200">
              <a:latin typeface="Calibri"/>
            </a:endParaRPr>
          </a:p>
          <a:p>
            <a:pPr marL="16891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9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3935D-B4DF-3612-51DA-B2BD6E3F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6BF087-A9C3-1A50-9CED-6B36DBFA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028" y="2589668"/>
            <a:ext cx="9339943" cy="1256993"/>
          </a:xfrm>
        </p:spPr>
        <p:txBody>
          <a:bodyPr wrap="square" anchor="b">
            <a:normAutofit/>
          </a:bodyPr>
          <a:lstStyle/>
          <a:p>
            <a:r>
              <a:rPr lang="en-GB" sz="8000">
                <a:solidFill>
                  <a:schemeClr val="bg1"/>
                </a:solidFill>
                <a:latin typeface="Calibri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4891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B747-2339-AC79-AE9D-8DAEFE4E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2540"/>
            <a:ext cx="8500533" cy="8763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             </a:t>
            </a:r>
            <a:r>
              <a:rPr lang="en-US" sz="4400">
                <a:latin typeface="Calibri"/>
                <a:ea typeface="+mj-lt"/>
                <a:cs typeface="+mj-lt"/>
              </a:rPr>
              <a:t>Data Preprocessing Pipeline</a:t>
            </a:r>
            <a:endParaRPr lang="en-US" sz="4400">
              <a:latin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EE9FC9-5086-BF05-4193-960749A0EB27}"/>
              </a:ext>
            </a:extLst>
          </p:cNvPr>
          <p:cNvSpPr/>
          <p:nvPr/>
        </p:nvSpPr>
        <p:spPr>
          <a:xfrm>
            <a:off x="1310409" y="1148729"/>
            <a:ext cx="4046075" cy="213013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Data Integration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28 annual CSV files loaded</a:t>
            </a:r>
            <a:endParaRPr lang="en-US" sz="1600">
              <a:latin typeface="Calibri"/>
              <a:ea typeface="Calibri"/>
              <a:cs typeface="Arial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Year extraction from filenames</a:t>
            </a:r>
            <a:endParaRPr lang="en-US" sz="1600">
              <a:latin typeface="Calibri"/>
              <a:ea typeface="Calibri"/>
              <a:cs typeface="Arial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Merged dataset: 196,163 records</a:t>
            </a:r>
            <a:endParaRPr lang="en-US" sz="1600">
              <a:latin typeface="Calibri"/>
            </a:endParaRPr>
          </a:p>
          <a:p>
            <a:pPr algn="ctr"/>
            <a:endParaRPr lang="en-US">
              <a:cs typeface="Arial"/>
            </a:endParaRPr>
          </a:p>
        </p:txBody>
      </p:sp>
      <p:pic>
        <p:nvPicPr>
          <p:cNvPr id="12" name="Picture 11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7ABC3F0-D7B4-1429-843C-F1010097C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93" t="10000" r="19549" b="17239"/>
          <a:stretch>
            <a:fillRect/>
          </a:stretch>
        </p:blipFill>
        <p:spPr>
          <a:xfrm>
            <a:off x="1492795" y="1239066"/>
            <a:ext cx="578789" cy="573357"/>
          </a:xfrm>
          <a:prstGeom prst="round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6AF690-D601-EAEB-B4CD-197BF13AC2E8}"/>
              </a:ext>
            </a:extLst>
          </p:cNvPr>
          <p:cNvSpPr/>
          <p:nvPr/>
        </p:nvSpPr>
        <p:spPr>
          <a:xfrm>
            <a:off x="6367317" y="1148773"/>
            <a:ext cx="4069775" cy="213013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solidFill>
                <a:srgbClr val="111827"/>
              </a:solidFill>
            </a:endParaRPr>
          </a:p>
          <a:p>
            <a:pPr algn="ctr"/>
            <a:endParaRPr lang="en-US" b="1">
              <a:solidFill>
                <a:srgbClr val="111827"/>
              </a:solidFill>
            </a:endParaRPr>
          </a:p>
          <a:p>
            <a:pPr algn="ctr"/>
            <a:r>
              <a:rPr lang="en-US" b="1">
                <a:solidFill>
                  <a:srgbClr val="111827"/>
                </a:solidFill>
              </a:rPr>
              <a:t>Data Cleaning</a:t>
            </a:r>
            <a:endParaRPr lang="en-US">
              <a:cs typeface="Arial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ea typeface="+mn-lt"/>
                <a:cs typeface="+mn-lt"/>
              </a:rPr>
              <a:t> 21 columns type conversion</a:t>
            </a:r>
            <a:endParaRPr lang="en-US"/>
          </a:p>
          <a:p>
            <a:pPr algn="ctr"/>
            <a:r>
              <a:rPr lang="en-US" sz="1600">
                <a:solidFill>
                  <a:srgbClr val="1F2937"/>
                </a:solidFill>
                <a:ea typeface="+mn-lt"/>
                <a:cs typeface="+mn-lt"/>
              </a:rPr>
              <a:t>Net price consolidation</a:t>
            </a:r>
            <a:endParaRPr lang="en-US"/>
          </a:p>
          <a:p>
            <a:pPr algn="ctr"/>
            <a:r>
              <a:rPr lang="en-US" sz="1600">
                <a:solidFill>
                  <a:srgbClr val="1F2937"/>
                </a:solidFill>
                <a:ea typeface="+mn-lt"/>
                <a:cs typeface="+mn-lt"/>
              </a:rPr>
              <a:t>Removed 6 high-missing columns</a:t>
            </a:r>
            <a:endParaRPr lang="en-US"/>
          </a:p>
          <a:p>
            <a:pPr algn="ctr"/>
            <a:r>
              <a:rPr lang="en-US" sz="1600">
                <a:solidFill>
                  <a:srgbClr val="1F2937"/>
                </a:solidFill>
                <a:ea typeface="+mn-lt"/>
                <a:cs typeface="+mn-lt"/>
              </a:rPr>
              <a:t>Quality validation</a:t>
            </a:r>
            <a:endParaRPr lang="en-US"/>
          </a:p>
          <a:p>
            <a:pPr algn="ctr"/>
            <a:endParaRPr lang="en-US" sz="1600" b="1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cs typeface="Arial"/>
            </a:endParaRPr>
          </a:p>
        </p:txBody>
      </p:sp>
      <p:pic>
        <p:nvPicPr>
          <p:cNvPr id="15" name="Picture 1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E2820FD-BFFF-B115-77CE-377620BC5D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70" t="15882" r="14371" b="15359"/>
          <a:stretch>
            <a:fillRect/>
          </a:stretch>
        </p:blipFill>
        <p:spPr>
          <a:xfrm>
            <a:off x="6607173" y="1236585"/>
            <a:ext cx="585649" cy="576578"/>
          </a:xfrm>
          <a:prstGeom prst="round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C0E967-2940-0204-FA4F-1F2BD6DCFC5B}"/>
              </a:ext>
            </a:extLst>
          </p:cNvPr>
          <p:cNvSpPr/>
          <p:nvPr/>
        </p:nvSpPr>
        <p:spPr>
          <a:xfrm>
            <a:off x="6401388" y="4067645"/>
            <a:ext cx="4035138" cy="213013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solidFill>
                <a:srgbClr val="111827"/>
              </a:solidFill>
            </a:endParaRPr>
          </a:p>
          <a:p>
            <a:pPr algn="ctr"/>
            <a:endParaRPr lang="en-US" b="1">
              <a:solidFill>
                <a:srgbClr val="111827"/>
              </a:solidFill>
            </a:endParaRPr>
          </a:p>
          <a:p>
            <a:pPr algn="ctr"/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Feature Engineering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5 derived features (ROI, ratios)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Log transformation (earnings, cost, debt)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One-hot encoding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Final: 67 features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endParaRPr lang="en-US" b="1">
              <a:solidFill>
                <a:srgbClr val="111827"/>
              </a:solidFill>
              <a:latin typeface="Arial"/>
              <a:ea typeface="Calibri"/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328023-8BE2-017F-8817-53735FDFD637}"/>
              </a:ext>
            </a:extLst>
          </p:cNvPr>
          <p:cNvSpPr/>
          <p:nvPr/>
        </p:nvSpPr>
        <p:spPr>
          <a:xfrm>
            <a:off x="1310452" y="4067688"/>
            <a:ext cx="4057534" cy="213013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600" b="1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Data Filtering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Removed institutions &lt;100 students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Filtered for outcome data completeness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1F2937"/>
                </a:solidFill>
                <a:latin typeface="Calibri"/>
                <a:ea typeface="+mn-lt"/>
                <a:cs typeface="+mn-lt"/>
              </a:rPr>
              <a:t>Final: 133,642 × 19 columns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endParaRPr lang="en-US" sz="1600" b="1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cs typeface="Arial"/>
            </a:endParaRPr>
          </a:p>
        </p:txBody>
      </p:sp>
      <p:pic>
        <p:nvPicPr>
          <p:cNvPr id="24" name="Picture 23" descr="A white card with black text&#10;&#10;AI-generated content may be incorrect.">
            <a:extLst>
              <a:ext uri="{FF2B5EF4-FFF2-40B4-BE49-F238E27FC236}">
                <a16:creationId xmlns:a16="http://schemas.microsoft.com/office/drawing/2014/main" id="{5FF32BED-7E70-93F5-D495-15C97FD444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83" t="13295" r="15301" b="11561"/>
          <a:stretch>
            <a:fillRect/>
          </a:stretch>
        </p:blipFill>
        <p:spPr>
          <a:xfrm>
            <a:off x="1492762" y="4149267"/>
            <a:ext cx="579203" cy="571076"/>
          </a:xfrm>
          <a:prstGeom prst="round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250343E-E0E9-2494-F259-11D0F928C2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072" t="11111" r="12418" b="10149"/>
          <a:stretch>
            <a:fillRect/>
          </a:stretch>
        </p:blipFill>
        <p:spPr>
          <a:xfrm>
            <a:off x="6610552" y="4147561"/>
            <a:ext cx="582586" cy="573504"/>
          </a:xfrm>
          <a:prstGeom prst="round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A449D377-A334-621D-EE84-A12530C8DE59}"/>
              </a:ext>
            </a:extLst>
          </p:cNvPr>
          <p:cNvSpPr/>
          <p:nvPr/>
        </p:nvSpPr>
        <p:spPr>
          <a:xfrm>
            <a:off x="5611092" y="2147455"/>
            <a:ext cx="577272" cy="404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5984B68A-2957-FD75-A53B-4C414C265BF7}"/>
              </a:ext>
            </a:extLst>
          </p:cNvPr>
          <p:cNvSpPr/>
          <p:nvPr/>
        </p:nvSpPr>
        <p:spPr>
          <a:xfrm>
            <a:off x="8070272" y="3428999"/>
            <a:ext cx="473363" cy="5541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5FD4CF10-4463-0E18-FEBD-C0D3FF404743}"/>
              </a:ext>
            </a:extLst>
          </p:cNvPr>
          <p:cNvSpPr/>
          <p:nvPr/>
        </p:nvSpPr>
        <p:spPr>
          <a:xfrm>
            <a:off x="5564909" y="4768272"/>
            <a:ext cx="600363" cy="43872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7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6407-48DE-9B9B-8761-1D7CAE2A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Calibri"/>
              </a:rPr>
              <a:t>                 </a:t>
            </a:r>
            <a:r>
              <a:rPr lang="en-US" sz="4400">
                <a:latin typeface="Calibri"/>
              </a:rPr>
              <a:t>Modeling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52B59-316B-AC51-5541-5381F190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1022"/>
            <a:ext cx="10972800" cy="4172000"/>
          </a:xfrm>
        </p:spPr>
        <p:txBody>
          <a:bodyPr spcFirstLastPara="1" wrap="square" lIns="0" tIns="0" rIns="0" bIns="0" anchor="t" anchorCtr="0">
            <a:noAutofit/>
          </a:bodyPr>
          <a:lstStyle/>
          <a:p>
            <a:pPr marL="511810" indent="-342900">
              <a:buFont typeface="Wingdings"/>
              <a:buChar char="q"/>
            </a:pPr>
            <a:r>
              <a:rPr lang="en-US" sz="2200" b="1" dirty="0">
                <a:latin typeface="Calibri"/>
              </a:rPr>
              <a:t>Random Forest Regression (Prediction)</a:t>
            </a:r>
            <a:endParaRPr lang="en-US" sz="2200" dirty="0">
              <a:latin typeface="Calibri"/>
            </a:endParaRPr>
          </a:p>
          <a:p>
            <a:pPr marL="168910" indent="0">
              <a:buNone/>
            </a:pPr>
            <a:r>
              <a:rPr lang="en-US" sz="2200" b="1" dirty="0">
                <a:latin typeface="Calibri"/>
              </a:rPr>
              <a:t>      Goal:</a:t>
            </a:r>
            <a:r>
              <a:rPr lang="en-US" sz="2200" dirty="0">
                <a:latin typeface="Calibri"/>
              </a:rPr>
              <a:t> Predict 10-year ROI with</a:t>
            </a:r>
            <a:br>
              <a:rPr lang="en-US" sz="2200" dirty="0">
                <a:latin typeface="Calibri"/>
              </a:rPr>
            </a:br>
            <a:r>
              <a:rPr lang="en-US" sz="2200" b="1" dirty="0">
                <a:latin typeface="Calibri"/>
              </a:rPr>
              <a:t>      Key Methods:</a:t>
            </a:r>
            <a:r>
              <a:rPr lang="en-US" sz="2200" dirty="0">
                <a:latin typeface="Calibri"/>
              </a:rPr>
              <a:t> </a:t>
            </a:r>
            <a:r>
              <a:rPr lang="en-US" sz="2200" dirty="0" err="1">
                <a:latin typeface="Calibri"/>
              </a:rPr>
              <a:t>GroupKFold</a:t>
            </a:r>
            <a:r>
              <a:rPr lang="en-US" sz="2200" dirty="0">
                <a:latin typeface="Calibri"/>
              </a:rPr>
              <a:t> CV + </a:t>
            </a:r>
            <a:r>
              <a:rPr lang="en-US" sz="2200" dirty="0" err="1">
                <a:latin typeface="Calibri"/>
              </a:rPr>
              <a:t>RandomizedSearchCV</a:t>
            </a:r>
            <a:r>
              <a:rPr lang="en-US" sz="2200" dirty="0">
                <a:latin typeface="Calibri"/>
              </a:rPr>
              <a:t> (40 iterations)</a:t>
            </a:r>
          </a:p>
          <a:p>
            <a:pPr marL="511810" indent="-342900">
              <a:buFont typeface="Wingdings"/>
              <a:buChar char="q"/>
            </a:pPr>
            <a:r>
              <a:rPr lang="en-US" sz="2200" b="1" dirty="0">
                <a:latin typeface="Calibri"/>
              </a:rPr>
              <a:t>Multiple Linear Regression (Interpretation)</a:t>
            </a:r>
            <a:endParaRPr lang="en-US" sz="2200" dirty="0">
              <a:latin typeface="Calibri"/>
            </a:endParaRPr>
          </a:p>
          <a:p>
            <a:pPr marL="168910" indent="0">
              <a:buNone/>
            </a:pPr>
            <a:r>
              <a:rPr lang="en-US" sz="2200" b="1" dirty="0">
                <a:latin typeface="Calibri"/>
              </a:rPr>
              <a:t>      Goal: </a:t>
            </a:r>
            <a:r>
              <a:rPr lang="en-US" sz="2200" dirty="0">
                <a:latin typeface="Calibri"/>
              </a:rPr>
              <a:t>Understand directional relationships between features and outcomes</a:t>
            </a:r>
            <a:br>
              <a:rPr lang="en-US" sz="2200" dirty="0">
                <a:latin typeface="Calibri"/>
              </a:rPr>
            </a:br>
            <a:r>
              <a:rPr lang="en-US" sz="2200" b="1" dirty="0">
                <a:latin typeface="Calibri"/>
              </a:rPr>
              <a:t>      Key Methods:</a:t>
            </a:r>
            <a:r>
              <a:rPr lang="en-US" sz="2200" dirty="0">
                <a:latin typeface="Calibri"/>
              </a:rPr>
              <a:t> Standard scaling, Log-transformations, Group-aware train-test split</a:t>
            </a:r>
          </a:p>
          <a:p>
            <a:pPr marL="511810" indent="-342900">
              <a:buFont typeface="Wingdings"/>
              <a:buChar char="q"/>
            </a:pPr>
            <a:r>
              <a:rPr lang="en-US" sz="2200" b="1" dirty="0">
                <a:latin typeface="Calibri"/>
              </a:rPr>
              <a:t>Subgroup Models (Comparative Analysis)</a:t>
            </a:r>
            <a:endParaRPr lang="en-US" sz="2200" dirty="0">
              <a:latin typeface="Calibri"/>
            </a:endParaRPr>
          </a:p>
          <a:p>
            <a:pPr marL="168910" indent="0">
              <a:buNone/>
            </a:pPr>
            <a:r>
              <a:rPr lang="en-US" sz="2200" b="1" dirty="0">
                <a:latin typeface="Calibri"/>
              </a:rPr>
              <a:t>     Goal: </a:t>
            </a:r>
            <a:r>
              <a:rPr lang="en-US" sz="2200" dirty="0">
                <a:latin typeface="Calibri"/>
              </a:rPr>
              <a:t>Compare predictability: Public vs Private, Large vs Small, Regional differences</a:t>
            </a:r>
            <a:br>
              <a:rPr lang="en-US" sz="2200" dirty="0">
                <a:latin typeface="Calibri"/>
              </a:rPr>
            </a:br>
            <a:r>
              <a:rPr lang="en-US" sz="2200" b="1" dirty="0">
                <a:latin typeface="Calibri"/>
              </a:rPr>
              <a:t>     Key Methods</a:t>
            </a:r>
            <a:r>
              <a:rPr lang="en-US" sz="2200" dirty="0">
                <a:latin typeface="Calibri"/>
              </a:rPr>
              <a:t>: Group-aware splitting, median imputation, log-transformation</a:t>
            </a:r>
          </a:p>
          <a:p>
            <a:pPr marL="511810" indent="-342900">
              <a:buFont typeface="Wingdings"/>
              <a:buChar char="q"/>
            </a:pPr>
            <a:r>
              <a:rPr lang="en-US" sz="2200" b="1" dirty="0">
                <a:latin typeface="Calibri"/>
                <a:ea typeface="Calibri"/>
                <a:cs typeface="Calibri"/>
              </a:rPr>
              <a:t>Metrics Applied:</a:t>
            </a:r>
            <a:r>
              <a:rPr lang="en-US" sz="2200" dirty="0">
                <a:latin typeface="Calibri"/>
                <a:ea typeface="Calibri"/>
                <a:cs typeface="Calibri"/>
              </a:rPr>
              <a:t> R², MAE, RMSE, subgroup performance comparisons</a:t>
            </a:r>
          </a:p>
          <a:p>
            <a:pPr marL="608965" indent="-440055">
              <a:buFont typeface="Wingdings"/>
              <a:buChar char="q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0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31876-F2F2-8C47-0BD2-50424C94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F11BB7-CEE6-A0E5-AE61-5685E547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755" y="2730275"/>
            <a:ext cx="3913580" cy="1095357"/>
          </a:xfrm>
        </p:spPr>
        <p:txBody>
          <a:bodyPr wrap="square" anchor="b">
            <a:normAutofit/>
          </a:bodyPr>
          <a:lstStyle/>
          <a:p>
            <a:r>
              <a:rPr lang="en-GB" sz="8000">
                <a:solidFill>
                  <a:schemeClr val="bg1"/>
                </a:solidFill>
                <a:latin typeface="Calibri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1998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FB80-601A-6073-62E7-AF597021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40177"/>
            <a:ext cx="8500533" cy="876300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libri"/>
              </a:rPr>
              <a:t>        Random Forest Performance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1DE0F63-8080-6C68-2EDE-A18A2A9B51E2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941677" y="1847561"/>
            <a:ext cx="9564687" cy="35861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847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1BD0D-B078-3847-DCE8-4D450D2D2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5" y="282449"/>
            <a:ext cx="8500533" cy="876300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libri"/>
              </a:rPr>
              <a:t>                  Feature Importances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B0D357-D895-6472-CEF7-B8D4CAF1B884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1600201" y="1587646"/>
            <a:ext cx="6931890" cy="4003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109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8887-F2F1-4849-724B-93EFCF7B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Calibri"/>
              </a:rPr>
              <a:t>          Multiple Linear Regression</a:t>
            </a:r>
          </a:p>
        </p:txBody>
      </p:sp>
      <p:pic>
        <p:nvPicPr>
          <p:cNvPr id="4" name="Content Placeholder 3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B60C5174-DC9B-FE1B-A39E-E6043FD3729E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2101273" y="1821729"/>
            <a:ext cx="6400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73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7B168-BAC7-8259-47E5-C16180DA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1CC9B1-5050-8D8F-52E1-703C80AD0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709" y="2643683"/>
            <a:ext cx="6014852" cy="1314720"/>
          </a:xfrm>
        </p:spPr>
        <p:txBody>
          <a:bodyPr wrap="square" anchor="b">
            <a:normAutofit/>
          </a:bodyPr>
          <a:lstStyle/>
          <a:p>
            <a:r>
              <a:rPr lang="en-GB" sz="8000">
                <a:solidFill>
                  <a:schemeClr val="bg1"/>
                </a:solidFill>
                <a:latin typeface="Calibri"/>
              </a:rPr>
              <a:t>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879305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91151-07F7-AB9D-03B0-AF8067D3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839" y="146088"/>
            <a:ext cx="6763411" cy="883789"/>
          </a:xfrm>
        </p:spPr>
        <p:txBody>
          <a:bodyPr wrap="square" anchor="b">
            <a:normAutofit/>
          </a:bodyPr>
          <a:lstStyle/>
          <a:p>
            <a:r>
              <a:rPr lang="en-GB" sz="4800">
                <a:latin typeface="Calibri"/>
                <a:ea typeface="Calibri"/>
                <a:cs typeface="Calibri"/>
              </a:rPr>
              <a:t>Key</a:t>
            </a:r>
            <a:r>
              <a:rPr lang="en-GB" sz="4800">
                <a:latin typeface="Calibri"/>
              </a:rPr>
              <a:t> Variables Distribution </a:t>
            </a:r>
            <a:endParaRPr lang="en-US" sz="4800">
              <a:latin typeface="Calibri"/>
            </a:endParaRPr>
          </a:p>
        </p:txBody>
      </p: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26BA5777-C2BA-3444-C273-877388957A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" b="478"/>
          <a:stretch>
            <a:fillRect/>
          </a:stretch>
        </p:blipFill>
        <p:spPr>
          <a:xfrm>
            <a:off x="1730526" y="1236112"/>
            <a:ext cx="8728295" cy="4784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789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2A47-C67C-D938-1E9A-8924F57E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0194-3621-BC37-FB8C-7747AE6D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836" y="388853"/>
            <a:ext cx="4709099" cy="594841"/>
          </a:xfrm>
        </p:spPr>
        <p:txBody>
          <a:bodyPr wrap="square" anchor="b">
            <a:noAutofit/>
          </a:bodyPr>
          <a:lstStyle/>
          <a:p>
            <a:r>
              <a:rPr lang="en-US" sz="4800">
                <a:latin typeface="Calibri"/>
                <a:cs typeface="Arial"/>
              </a:rPr>
              <a:t>Trends Over Time</a:t>
            </a:r>
            <a:endParaRPr lang="zh-CN" altLang="en-US" sz="4800">
              <a:latin typeface="Calibri"/>
            </a:endParaRP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C347225C-1E88-47F4-92C6-088979D0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" t="631" r="86" b="158"/>
          <a:stretch>
            <a:fillRect/>
          </a:stretch>
        </p:blipFill>
        <p:spPr>
          <a:xfrm>
            <a:off x="1757405" y="1198458"/>
            <a:ext cx="8684098" cy="473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65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3C56-0931-2B43-0915-14511593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9BC7-A50F-4911-FD6D-0BBF8FF2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051" y="384173"/>
            <a:ext cx="4242757" cy="594841"/>
          </a:xfrm>
        </p:spPr>
        <p:txBody>
          <a:bodyPr wrap="square" anchor="b">
            <a:noAutofit/>
          </a:bodyPr>
          <a:lstStyle/>
          <a:p>
            <a:r>
              <a:rPr lang="en-US" sz="4800">
                <a:latin typeface="Calibri"/>
                <a:cs typeface="Arial"/>
              </a:rPr>
              <a:t>Top Performers</a:t>
            </a:r>
            <a:endParaRPr lang="zh-CN" sz="4800">
              <a:latin typeface="Calibri"/>
            </a:endParaRPr>
          </a:p>
        </p:txBody>
      </p:sp>
      <p:pic>
        <p:nvPicPr>
          <p:cNvPr id="4" name="图片 3" descr="图表, 条形图&#10;&#10;AI 生成的内容可能不正确。">
            <a:extLst>
              <a:ext uri="{FF2B5EF4-FFF2-40B4-BE49-F238E27FC236}">
                <a16:creationId xmlns:a16="http://schemas.microsoft.com/office/drawing/2014/main" id="{75EECACD-415E-B908-1206-03261193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"/>
          <a:stretch>
            <a:fillRect/>
          </a:stretch>
        </p:blipFill>
        <p:spPr>
          <a:xfrm>
            <a:off x="859120" y="983420"/>
            <a:ext cx="9138117" cy="520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83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576B36-3E53-A26A-C745-F1603AED105A}"/>
              </a:ext>
            </a:extLst>
          </p:cNvPr>
          <p:cNvSpPr txBox="1">
            <a:spLocks/>
          </p:cNvSpPr>
          <p:nvPr/>
        </p:nvSpPr>
        <p:spPr>
          <a:xfrm>
            <a:off x="3712051" y="384173"/>
            <a:ext cx="4242757" cy="59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eko"/>
              <a:buNone/>
              <a:defRPr sz="3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r>
              <a:rPr lang="en-US" sz="4800">
                <a:latin typeface="Calibri"/>
                <a:cs typeface="Arial"/>
              </a:rPr>
              <a:t>Top Performers</a:t>
            </a:r>
            <a:endParaRPr lang="zh-CN" sz="4800">
              <a:latin typeface="Calibri"/>
            </a:endParaRPr>
          </a:p>
        </p:txBody>
      </p:sp>
      <p:pic>
        <p:nvPicPr>
          <p:cNvPr id="2" name="图片 1" descr="图表&#10;&#10;AI 生成的内容可能不正确。">
            <a:extLst>
              <a:ext uri="{FF2B5EF4-FFF2-40B4-BE49-F238E27FC236}">
                <a16:creationId xmlns:a16="http://schemas.microsoft.com/office/drawing/2014/main" id="{47171E1B-6576-B981-C865-5B25912C8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8" b="139"/>
          <a:stretch>
            <a:fillRect/>
          </a:stretch>
        </p:blipFill>
        <p:spPr>
          <a:xfrm>
            <a:off x="1023643" y="1100053"/>
            <a:ext cx="8995684" cy="512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66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31BF-9D1E-A38F-B4E9-B9246D64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5F72-5B23-C521-E7F6-6F10AE37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236" y="501812"/>
            <a:ext cx="5533351" cy="633846"/>
          </a:xfrm>
        </p:spPr>
        <p:txBody>
          <a:bodyPr wrap="square" anchor="b">
            <a:normAutofit/>
          </a:bodyPr>
          <a:lstStyle/>
          <a:p>
            <a:r>
              <a:rPr lang="en-GB"/>
              <a:t> </a:t>
            </a:r>
            <a:r>
              <a:rPr lang="en-GB" sz="4800">
                <a:latin typeface="Calibri"/>
              </a:rPr>
              <a:t>Geographic analysis</a:t>
            </a:r>
            <a:r>
              <a:rPr lang="en-GB"/>
              <a:t> </a:t>
            </a:r>
            <a:endParaRPr lang="en-US"/>
          </a:p>
        </p:txBody>
      </p:sp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2EEF42B-AFE5-E0D6-4B31-6DE4C75D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01" r="-1" b="9259"/>
          <a:stretch>
            <a:fillRect/>
          </a:stretch>
        </p:blipFill>
        <p:spPr>
          <a:xfrm>
            <a:off x="1666009" y="1577736"/>
            <a:ext cx="7810500" cy="36993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8645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C5AD-0F99-BAE3-7C44-5BC22CEBD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3215-A85D-2525-DEB9-876846D1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145" y="224722"/>
            <a:ext cx="8500533" cy="876300"/>
          </a:xfrm>
        </p:spPr>
        <p:txBody>
          <a:bodyPr wrap="square" anchor="b">
            <a:normAutofit/>
          </a:bodyPr>
          <a:lstStyle/>
          <a:p>
            <a:r>
              <a:rPr lang="en-GB"/>
              <a:t> </a:t>
            </a:r>
            <a:r>
              <a:rPr lang="en-GB" sz="4400">
                <a:latin typeface="Calibri"/>
                <a:ea typeface="Calibri"/>
                <a:cs typeface="Calibri"/>
              </a:rPr>
              <a:t>Institution size &amp; selectivity</a:t>
            </a:r>
            <a:endParaRPr lang="en-US" sz="440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A group of diagrams with different colored shapes&#10;&#10;AI-generated content may be incorrect.">
            <a:extLst>
              <a:ext uri="{FF2B5EF4-FFF2-40B4-BE49-F238E27FC236}">
                <a16:creationId xmlns:a16="http://schemas.microsoft.com/office/drawing/2014/main" id="{227F4A3C-4BBA-D13D-4485-DE504667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208" y="1217876"/>
            <a:ext cx="7484030" cy="493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59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F04B-DE73-FCF5-C441-E55E6CD4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872" y="409448"/>
            <a:ext cx="7669261" cy="760846"/>
          </a:xfrm>
        </p:spPr>
        <p:txBody>
          <a:bodyPr wrap="square" anchor="b">
            <a:normAutofit/>
          </a:bodyPr>
          <a:lstStyle/>
          <a:p>
            <a:r>
              <a:rPr lang="en-GB" sz="4800">
                <a:latin typeface="Calibri"/>
              </a:rPr>
              <a:t>Institution size and selectivity</a:t>
            </a:r>
            <a:endParaRPr lang="en-US" sz="4800">
              <a:latin typeface="Calibri"/>
            </a:endParaRPr>
          </a:p>
        </p:txBody>
      </p:sp>
      <p:pic>
        <p:nvPicPr>
          <p:cNvPr id="5" name="Picture 4" descr="A green squares with white text&#10;&#10;AI-generated content may be incorrect.">
            <a:extLst>
              <a:ext uri="{FF2B5EF4-FFF2-40B4-BE49-F238E27FC236}">
                <a16:creationId xmlns:a16="http://schemas.microsoft.com/office/drawing/2014/main" id="{903D3442-230A-DAE1-E4E9-32A91CF36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76" r="-1" b="14827"/>
          <a:stretch>
            <a:fillRect/>
          </a:stretch>
        </p:blipFill>
        <p:spPr>
          <a:xfrm>
            <a:off x="2191327" y="1843280"/>
            <a:ext cx="7810500" cy="36993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01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5A7EC-052B-A5C6-828D-3EB13259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DBCBB-8FF7-9F8A-6E57-875D91A3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618" y="2505137"/>
            <a:ext cx="3728852" cy="1314720"/>
          </a:xfrm>
        </p:spPr>
        <p:txBody>
          <a:bodyPr wrap="square" anchor="b">
            <a:normAutofit/>
          </a:bodyPr>
          <a:lstStyle/>
          <a:p>
            <a:r>
              <a:rPr lang="en-GB" sz="8000">
                <a:solidFill>
                  <a:schemeClr val="bg1"/>
                </a:solidFill>
                <a:latin typeface="Calibri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98727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C68D-30DE-1AD9-2D26-34D26638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5949"/>
            <a:ext cx="8500533" cy="876300"/>
          </a:xfrm>
        </p:spPr>
        <p:txBody>
          <a:bodyPr>
            <a:normAutofit/>
          </a:bodyPr>
          <a:lstStyle/>
          <a:p>
            <a:r>
              <a:rPr lang="en-US" sz="4800">
                <a:latin typeface="Calibri"/>
              </a:rPr>
              <a:t>                        </a:t>
            </a:r>
            <a:r>
              <a:rPr lang="en-US" sz="4200">
                <a:latin typeface="Calibri"/>
              </a:rPr>
              <a:t>Key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2DC2E-331F-B3A8-1570-E44A7A5CA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48476"/>
            <a:ext cx="10972800" cy="4172000"/>
          </a:xfrm>
        </p:spPr>
        <p:txBody>
          <a:bodyPr spcFirstLastPara="1" wrap="square" lIns="0" tIns="0" rIns="0" bIns="0" anchor="t" anchorCtr="0">
            <a:noAutofit/>
          </a:bodyPr>
          <a:lstStyle/>
          <a:p>
            <a:pPr marL="626110" indent="-457200">
              <a:buAutoNum type="arabicPeriod"/>
            </a:pPr>
            <a:r>
              <a:rPr lang="en-US" sz="2000" b="1">
                <a:latin typeface="Calibri"/>
              </a:rPr>
              <a:t>Tuition is the Dominant Driver of ROI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Tuition + institution type explain 58% of predictive power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Strong negative correlation: Higher cost ⇒ Lower ROI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ROI drops sharply across tuition quartiles despite higher earnings at expensive schools</a:t>
            </a:r>
            <a:endParaRPr lang="en-US" sz="2000"/>
          </a:p>
          <a:p>
            <a:pPr marL="168910" indent="0">
              <a:buNone/>
            </a:pPr>
            <a:r>
              <a:rPr lang="en-US" sz="2000" b="1">
                <a:latin typeface="Calibri"/>
              </a:rPr>
              <a:t>2.    Public Institutions Deliver the Highest ROI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       Public schools have highest ROI, lowest tuition, and lower debt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       All Top 20 ROI institutions are public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       Private nonprofit and for-profit schools show significantly lower ROI</a:t>
            </a:r>
          </a:p>
          <a:p>
            <a:pPr marL="168910" indent="0">
              <a:buNone/>
            </a:pPr>
            <a:r>
              <a:rPr lang="en-US" sz="2000" b="1">
                <a:latin typeface="Calibri"/>
              </a:rPr>
              <a:t>3.    Geography Strongly Influences Earnings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       State is the #1 predictor of future earnings (Linear Regression)</a:t>
            </a:r>
            <a:br>
              <a:rPr lang="en-US" sz="2000">
                <a:latin typeface="Calibri"/>
              </a:rPr>
            </a:br>
            <a:r>
              <a:rPr lang="en-US" sz="2000">
                <a:latin typeface="Calibri"/>
              </a:rPr>
              <a:t>       Highest-ROI states: NY, CA, NJ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       Lowest-ROI regions: PR, VI, MS, AL</a:t>
            </a:r>
          </a:p>
          <a:p>
            <a:pPr marL="168910" indent="0">
              <a:buNone/>
            </a:pPr>
            <a:r>
              <a:rPr lang="en-US" sz="2000" b="1">
                <a:latin typeface="Calibri"/>
              </a:rPr>
              <a:t>4.    Selectivity Does Not Predict ROI</a:t>
            </a:r>
            <a:br>
              <a:rPr lang="en-US" sz="2000" b="1">
                <a:latin typeface="Calibri"/>
              </a:rPr>
            </a:br>
            <a:r>
              <a:rPr lang="en-US" sz="2000">
                <a:latin typeface="Calibri"/>
              </a:rPr>
              <a:t>       Highly selective schools have higher earnings but much higher costs</a:t>
            </a:r>
            <a:br>
              <a:rPr lang="en-US" sz="2000" b="1">
                <a:latin typeface="Calibri"/>
              </a:rPr>
            </a:br>
            <a:r>
              <a:rPr lang="en-US" sz="2000" b="1">
                <a:latin typeface="Calibri"/>
              </a:rPr>
              <a:t>       </a:t>
            </a:r>
            <a:r>
              <a:rPr lang="en-US" sz="2000">
                <a:latin typeface="Calibri"/>
              </a:rPr>
              <a:t>Moderately selective institutions provide the best ROI balance</a:t>
            </a:r>
          </a:p>
          <a:p>
            <a:pPr marL="608965" indent="-440055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59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52063-1F4A-C179-53F4-FE1FA930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6449"/>
            <a:ext cx="8500533" cy="738796"/>
          </a:xfrm>
        </p:spPr>
        <p:txBody>
          <a:bodyPr/>
          <a:lstStyle/>
          <a:p>
            <a:r>
              <a:rPr lang="en-US"/>
              <a:t>                                  </a:t>
            </a:r>
            <a:r>
              <a:rPr lang="en-US" sz="4800">
                <a:latin typeface="Calibri"/>
              </a:rPr>
              <a:t>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80EAA-F74A-0D3E-326F-A88BC587C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1022"/>
            <a:ext cx="10972800" cy="4172000"/>
          </a:xfrm>
        </p:spPr>
        <p:txBody>
          <a:bodyPr>
            <a:normAutofit fontScale="85000" lnSpcReduction="20000"/>
          </a:bodyPr>
          <a:lstStyle/>
          <a:p>
            <a:pPr marL="608965" indent="-440055">
              <a:buAutoNum type="arabicPeriod"/>
            </a:pPr>
            <a:r>
              <a:rPr lang="en-US" sz="2400" b="1">
                <a:solidFill>
                  <a:schemeClr val="tx1"/>
                </a:solidFill>
                <a:latin typeface="Calibri"/>
              </a:rPr>
              <a:t>U.S. Department of Education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. (2024). College Scorecard Data Documentation. Retrieved from </a:t>
            </a:r>
            <a:r>
              <a:rPr lang="en-US" sz="2400" u="sng">
                <a:solidFill>
                  <a:schemeClr val="tx1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https://collegescorecard.ed.gov/data/</a:t>
            </a:r>
            <a:endParaRPr lang="en-US" sz="2400">
              <a:solidFill>
                <a:schemeClr val="tx1"/>
              </a:solidFill>
              <a:latin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08965" indent="-440055">
              <a:buAutoNum type="arabicPeriod"/>
            </a:pPr>
            <a:r>
              <a:rPr lang="en-US" sz="2400" b="1">
                <a:solidFill>
                  <a:schemeClr val="tx1"/>
                </a:solidFill>
                <a:latin typeface="Calibri"/>
              </a:rPr>
              <a:t>Bastedo, M. N., &amp; Jaquette, O.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 (2011). Running in place: Low-income students and the dynamics of higher education stratification. </a:t>
            </a:r>
            <a:r>
              <a:rPr lang="en-US" sz="2400" i="1">
                <a:solidFill>
                  <a:schemeClr val="tx1"/>
                </a:solidFill>
                <a:latin typeface="Calibri"/>
              </a:rPr>
              <a:t>Educational Evaluation and Policy Analysis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, 33(3), 318-339.</a:t>
            </a:r>
          </a:p>
          <a:p>
            <a:pPr marL="608965" indent="-440055">
              <a:buAutoNum type="arabicPeriod"/>
            </a:pPr>
            <a:r>
              <a:rPr lang="en-US" sz="2400" b="1">
                <a:solidFill>
                  <a:schemeClr val="tx1"/>
                </a:solidFill>
                <a:latin typeface="Calibri"/>
              </a:rPr>
              <a:t>Chetty, R., Friedman, J. N., Saez, E., Turner, N., &amp; Yagan, D.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 (2020). Income segregation and intergenerational mobility across colleges in the United States. </a:t>
            </a:r>
            <a:br>
              <a:rPr lang="en-US" sz="2400">
                <a:solidFill>
                  <a:schemeClr val="tx1"/>
                </a:solidFill>
                <a:latin typeface="Calibri"/>
              </a:rPr>
            </a:br>
            <a:r>
              <a:rPr lang="en-US" sz="2400" i="1">
                <a:solidFill>
                  <a:schemeClr val="tx1"/>
                </a:solidFill>
                <a:latin typeface="Calibri"/>
              </a:rPr>
              <a:t>The Quarterly Journal of Economics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, 135(3), 1567-1633.</a:t>
            </a:r>
          </a:p>
          <a:p>
            <a:pPr marL="608965" indent="-440055">
              <a:buAutoNum type="arabicPeriod"/>
            </a:pPr>
            <a:r>
              <a:rPr lang="en-US" sz="2400" b="1">
                <a:solidFill>
                  <a:schemeClr val="tx1"/>
                </a:solidFill>
                <a:latin typeface="Calibri"/>
              </a:rPr>
              <a:t>Dale, S. B., &amp; Krueger, A. B.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 (2014). Estimating the effects of college characteristics over the career using administrative earnings data. </a:t>
            </a:r>
            <a:r>
              <a:rPr lang="en-US" sz="2400" i="1">
                <a:solidFill>
                  <a:schemeClr val="tx1"/>
                </a:solidFill>
                <a:latin typeface="Calibri"/>
              </a:rPr>
              <a:t>Journal of Human Resources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, 49(2), 323-358.</a:t>
            </a:r>
          </a:p>
          <a:p>
            <a:pPr marL="608965" indent="-440055">
              <a:buAutoNum type="arabicPeriod"/>
            </a:pPr>
            <a:r>
              <a:rPr lang="en-US" sz="2400" b="1">
                <a:solidFill>
                  <a:schemeClr val="tx1"/>
                </a:solidFill>
                <a:latin typeface="Calibri"/>
              </a:rPr>
              <a:t>Scikit-learn Documentation</a:t>
            </a:r>
            <a:r>
              <a:rPr lang="en-US" sz="2400">
                <a:solidFill>
                  <a:schemeClr val="tx1"/>
                </a:solidFill>
                <a:latin typeface="Calibri"/>
              </a:rPr>
              <a:t>. (2024). Machine Learning in Python. </a:t>
            </a:r>
            <a:br>
              <a:rPr lang="en-US" sz="2400">
                <a:solidFill>
                  <a:schemeClr val="tx1"/>
                </a:solidFill>
                <a:latin typeface="Calibri"/>
              </a:rPr>
            </a:br>
            <a:r>
              <a:rPr lang="en-US" sz="2400">
                <a:solidFill>
                  <a:schemeClr val="tx1"/>
                </a:solidFill>
                <a:latin typeface="Calibri"/>
              </a:rPr>
              <a:t>Retrieved from </a:t>
            </a:r>
            <a:r>
              <a:rPr lang="en-US" sz="2400" u="sng">
                <a:solidFill>
                  <a:schemeClr val="tx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</a:t>
            </a:r>
            <a:br>
              <a:rPr lang="en-US">
                <a:solidFill>
                  <a:schemeClr val="tx1"/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71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15151"/>
            <a:ext cx="10972800" cy="1326018"/>
          </a:xfrm>
        </p:spPr>
        <p:txBody>
          <a:bodyPr wrap="square" anchor="b">
            <a:normAutofit/>
          </a:bodyPr>
          <a:lstStyle/>
          <a:p>
            <a:r>
              <a:rPr lang="en-US" sz="8000">
                <a:solidFill>
                  <a:schemeClr val="bg1"/>
                </a:solidFill>
                <a:latin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Blue Notch">
  <a:themeElements>
    <a:clrScheme name="Blue &amp; Gold">
      <a:dk1>
        <a:srgbClr val="182B48"/>
      </a:dk1>
      <a:lt1>
        <a:srgbClr val="FFFFFF"/>
      </a:lt1>
      <a:dk2>
        <a:srgbClr val="00629B"/>
      </a:dk2>
      <a:lt2>
        <a:srgbClr val="FEFFFF"/>
      </a:lt2>
      <a:accent1>
        <a:srgbClr val="00629B"/>
      </a:accent1>
      <a:accent2>
        <a:srgbClr val="00C6D7"/>
      </a:accent2>
      <a:accent3>
        <a:srgbClr val="B6B1A9"/>
      </a:accent3>
      <a:accent4>
        <a:srgbClr val="182B49"/>
      </a:accent4>
      <a:accent5>
        <a:srgbClr val="747678"/>
      </a:accent5>
      <a:accent6>
        <a:srgbClr val="00C6D7"/>
      </a:accent6>
      <a:hlink>
        <a:srgbClr val="00629B"/>
      </a:hlink>
      <a:folHlink>
        <a:srgbClr val="7475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FE134-9032-4C7F-BC57-C7DE3F833363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UCSanDiego-PresentationTemplate-BlueNotch-16x9</Template>
  <Application>Microsoft Office PowerPoint</Application>
  <PresentationFormat>Widescreen</PresentationFormat>
  <Slides>24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Blue Notch</vt:lpstr>
      <vt:lpstr>   Predicting Student Success and Financial Outcomes in Higher Education</vt:lpstr>
      <vt:lpstr>                                  Contents</vt:lpstr>
      <vt:lpstr>Introduction</vt:lpstr>
      <vt:lpstr>                                Motivation</vt:lpstr>
      <vt:lpstr>             Dataset: College Scorecard</vt:lpstr>
      <vt:lpstr>Methodology</vt:lpstr>
      <vt:lpstr>             Data Preprocessing Pipeline</vt:lpstr>
      <vt:lpstr>                 Modeling Approach</vt:lpstr>
      <vt:lpstr>Results</vt:lpstr>
      <vt:lpstr>        Random Forest Performance</vt:lpstr>
      <vt:lpstr>                  Feature Importances</vt:lpstr>
      <vt:lpstr>          Multiple Linear Regression</vt:lpstr>
      <vt:lpstr>Visualizations</vt:lpstr>
      <vt:lpstr>Key Variables Distribution </vt:lpstr>
      <vt:lpstr>Trends Over Time</vt:lpstr>
      <vt:lpstr>Top Performers</vt:lpstr>
      <vt:lpstr>PowerPoint Presentation</vt:lpstr>
      <vt:lpstr> Geographic analysis </vt:lpstr>
      <vt:lpstr> Institution size &amp; selectivity</vt:lpstr>
      <vt:lpstr>Institution size and selectivity</vt:lpstr>
      <vt:lpstr>Insights</vt:lpstr>
      <vt:lpstr>                        Key Findings</vt:lpstr>
      <vt:lpstr>                                 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36</cp:revision>
  <dcterms:created xsi:type="dcterms:W3CDTF">2025-12-02T22:21:58Z</dcterms:created>
  <dcterms:modified xsi:type="dcterms:W3CDTF">2025-12-10T04:04:05Z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